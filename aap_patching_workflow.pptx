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9" d="100"/>
          <a:sy n="129" d="100"/>
        </p:scale>
        <p:origin x="641" y="1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65297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Introduce the end-to-end automated patching workflow built on AAP.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pain points of manual patching and how AAP solves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stage. Emphasize that AAP orchestrates all 8 steps as a single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1 and 2 are safety stages. Never skip the snapshot — it's the rollback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AAP enforces the correct user — this is a common manual patching mistake.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4 captures package list for the DB. Stage 5 uses ansible.builtin.reboot with timeout.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7 confirms the site is back up. Stage 8 closes the loop with DB record and email.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how survey inputs flow through 5 playbooks to produce guaranteed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key value props and concrete next steps to get this deployed.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10" Type="http://schemas.openxmlformats.org/officeDocument/2006/relationships/image" Target="../media/image12.png"/><Relationship Id="rId4" Type="http://schemas.openxmlformats.org/officeDocument/2006/relationships/image" Target="../media/image3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EE0000"/>
          </a:solidFill>
          <a:ln w="12700">
            <a:solidFill>
              <a:srgbClr val="EE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HAT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Ansible Automation Platform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9144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5544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Server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457200" y="22860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Patching Workflow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457200" y="3246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Automated Patching via AAP — Azure Snapshot → Screenshot → Patch → Verify → Report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65760" y="388620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97764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68680" y="395935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Pre-patch backup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868680" y="417880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Snapshot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2514600" y="388620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1760" y="397764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017520" y="395935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&amp; After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3017520" y="417880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Screenshots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4663440" y="388620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3977640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166360" y="395935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dnf + reboot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166360" y="417880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Patching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6812280" y="388620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9440" y="3977640"/>
            <a:ext cx="320040" cy="32004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315200" y="395935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+ Email report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7315200" y="417880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 Tracking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AUTOMATE PATCHING?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case for AAP-driven patch management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3931920" cy="3566160"/>
          </a:xfrm>
          <a:prstGeom prst="roundRect">
            <a:avLst>
              <a:gd name="adj" fmla="val 256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344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2618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8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Patching Challenges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169164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error during patch steps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pre-patch snapshots or rollback plan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Inconsistent process across servers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audit trail or patch history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 stopped/started as wrong user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verification after patching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Time-consuming manual reporting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663440" y="1051560"/>
            <a:ext cx="4023360" cy="3566160"/>
          </a:xfrm>
          <a:prstGeom prst="roundRect">
            <a:avLst>
              <a:gd name="adj" fmla="val 2564"/>
            </a:avLst>
          </a:prstGeom>
          <a:solidFill>
            <a:srgbClr val="161B22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23444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03520" y="12618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AAP Automation Benefits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846320" y="169164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repeatable process every time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Azure snapshot before patching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user for Tomcat stop/start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 verification before &amp; after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patch history tracked in DB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email report on completion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manual steps — fully hands-off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WORKFLOW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8-Stage Automated Patching Pipeline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914400" cy="1234440"/>
          </a:xfrm>
          <a:prstGeom prst="roundRect">
            <a:avLst>
              <a:gd name="adj" fmla="val 8000"/>
            </a:avLst>
          </a:prstGeom>
          <a:solidFill>
            <a:srgbClr val="1C2128"/>
          </a:solidFill>
          <a:ln w="12700">
            <a:solidFill>
              <a:srgbClr val="58A6FF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76072" y="1024128"/>
            <a:ext cx="310896" cy="310896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1014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298448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92608" y="1755648"/>
            <a:ext cx="87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197864" y="1805940"/>
            <a:ext cx="54864" cy="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97280" y="16687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1261872" y="1188720"/>
            <a:ext cx="914400" cy="1234440"/>
          </a:xfrm>
          <a:prstGeom prst="roundRect">
            <a:avLst>
              <a:gd name="adj" fmla="val 8000"/>
            </a:avLst>
          </a:prstGeom>
          <a:solidFill>
            <a:srgbClr val="1C2128"/>
          </a:solidFill>
          <a:ln w="12700">
            <a:solidFill>
              <a:srgbClr val="8B949E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563624" y="1024128"/>
            <a:ext cx="310896" cy="310896"/>
          </a:xfrm>
          <a:prstGeom prst="ellipse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563624" y="1014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7904" y="1298448"/>
            <a:ext cx="402336" cy="40233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280160" y="1755648"/>
            <a:ext cx="87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2185416" y="1805940"/>
            <a:ext cx="54864" cy="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2084832" y="16687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2249424" y="1188720"/>
            <a:ext cx="914400" cy="1234440"/>
          </a:xfrm>
          <a:prstGeom prst="roundRect">
            <a:avLst>
              <a:gd name="adj" fmla="val 8000"/>
            </a:avLst>
          </a:prstGeom>
          <a:solidFill>
            <a:srgbClr val="1C2128"/>
          </a:solidFill>
          <a:ln w="12700">
            <a:solidFill>
              <a:srgbClr val="F0883E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2551176" y="1024128"/>
            <a:ext cx="310896" cy="310896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551176" y="1014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5456" y="1298448"/>
            <a:ext cx="402336" cy="40233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2267712" y="1755648"/>
            <a:ext cx="87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Tomcat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3172968" y="1805940"/>
            <a:ext cx="54864" cy="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3072384" y="16687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3236976" y="1188720"/>
            <a:ext cx="914400" cy="1234440"/>
          </a:xfrm>
          <a:prstGeom prst="roundRect">
            <a:avLst>
              <a:gd name="adj" fmla="val 8000"/>
            </a:avLst>
          </a:prstGeom>
          <a:solidFill>
            <a:srgbClr val="1C2128"/>
          </a:solidFill>
          <a:ln w="12700">
            <a:solidFill>
              <a:srgbClr val="EE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3538728" y="1024128"/>
            <a:ext cx="310896" cy="310896"/>
          </a:xfrm>
          <a:prstGeom prst="ellipse">
            <a:avLst/>
          </a:prstGeom>
          <a:solidFill>
            <a:srgbClr val="EE0000"/>
          </a:solidFill>
          <a:ln w="12700">
            <a:solidFill>
              <a:srgbClr val="EE0000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3538728" y="1014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93008" y="1298448"/>
            <a:ext cx="402336" cy="402336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3255264" y="1755648"/>
            <a:ext cx="87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4160520" y="1805940"/>
            <a:ext cx="54864" cy="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4059936" y="16687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800" dirty="0"/>
          </a:p>
        </p:txBody>
      </p:sp>
      <p:sp>
        <p:nvSpPr>
          <p:cNvPr id="32" name="Shape 26"/>
          <p:cNvSpPr/>
          <p:nvPr/>
        </p:nvSpPr>
        <p:spPr>
          <a:xfrm>
            <a:off x="4224528" y="1188720"/>
            <a:ext cx="914400" cy="1234440"/>
          </a:xfrm>
          <a:prstGeom prst="roundRect">
            <a:avLst>
              <a:gd name="adj" fmla="val 8000"/>
            </a:avLst>
          </a:prstGeom>
          <a:solidFill>
            <a:srgbClr val="1C2128"/>
          </a:solidFill>
          <a:ln w="12700">
            <a:solidFill>
              <a:srgbClr val="CC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4526280" y="1024128"/>
            <a:ext cx="310896" cy="310896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4526280" y="1014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0560" y="1298448"/>
            <a:ext cx="402336" cy="402336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4242816" y="1755648"/>
            <a:ext cx="87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Reboot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</a:t>
            </a:r>
            <a:endParaRPr lang="en-US" sz="900" dirty="0"/>
          </a:p>
        </p:txBody>
      </p:sp>
      <p:sp>
        <p:nvSpPr>
          <p:cNvPr id="37" name="Shape 30"/>
          <p:cNvSpPr/>
          <p:nvPr/>
        </p:nvSpPr>
        <p:spPr>
          <a:xfrm>
            <a:off x="5148072" y="1805940"/>
            <a:ext cx="54864" cy="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5047488" y="16687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800" dirty="0"/>
          </a:p>
        </p:txBody>
      </p:sp>
      <p:sp>
        <p:nvSpPr>
          <p:cNvPr id="39" name="Shape 32"/>
          <p:cNvSpPr/>
          <p:nvPr/>
        </p:nvSpPr>
        <p:spPr>
          <a:xfrm>
            <a:off x="5212080" y="1188720"/>
            <a:ext cx="914400" cy="1234440"/>
          </a:xfrm>
          <a:prstGeom prst="roundRect">
            <a:avLst>
              <a:gd name="adj" fmla="val 8000"/>
            </a:avLst>
          </a:prstGeom>
          <a:solidFill>
            <a:srgbClr val="1C2128"/>
          </a:solidFill>
          <a:ln w="12700">
            <a:solidFill>
              <a:srgbClr val="3FB950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5513832" y="1024128"/>
            <a:ext cx="310896" cy="310896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5513832" y="1014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68112" y="1298448"/>
            <a:ext cx="402336" cy="402336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5230368" y="1755648"/>
            <a:ext cx="87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Tomcat</a:t>
            </a:r>
            <a:endParaRPr lang="en-US" sz="900" dirty="0"/>
          </a:p>
        </p:txBody>
      </p:sp>
      <p:sp>
        <p:nvSpPr>
          <p:cNvPr id="44" name="Shape 36"/>
          <p:cNvSpPr/>
          <p:nvPr/>
        </p:nvSpPr>
        <p:spPr>
          <a:xfrm>
            <a:off x="6135624" y="1805940"/>
            <a:ext cx="54864" cy="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</a:ln>
        </p:spPr>
      </p:sp>
      <p:sp>
        <p:nvSpPr>
          <p:cNvPr id="45" name="Text 37"/>
          <p:cNvSpPr/>
          <p:nvPr/>
        </p:nvSpPr>
        <p:spPr>
          <a:xfrm>
            <a:off x="6035040" y="16687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800" dirty="0"/>
          </a:p>
        </p:txBody>
      </p:sp>
      <p:sp>
        <p:nvSpPr>
          <p:cNvPr id="46" name="Shape 38"/>
          <p:cNvSpPr/>
          <p:nvPr/>
        </p:nvSpPr>
        <p:spPr>
          <a:xfrm>
            <a:off x="6199632" y="1188720"/>
            <a:ext cx="914400" cy="1234440"/>
          </a:xfrm>
          <a:prstGeom prst="roundRect">
            <a:avLst>
              <a:gd name="adj" fmla="val 8000"/>
            </a:avLst>
          </a:prstGeom>
          <a:solidFill>
            <a:srgbClr val="1C2128"/>
          </a:solidFill>
          <a:ln w="12700">
            <a:solidFill>
              <a:srgbClr val="8B949E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7" name="Shape 39"/>
          <p:cNvSpPr/>
          <p:nvPr/>
        </p:nvSpPr>
        <p:spPr>
          <a:xfrm>
            <a:off x="6501384" y="1024128"/>
            <a:ext cx="310896" cy="310896"/>
          </a:xfrm>
          <a:prstGeom prst="ellipse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48" name="Text 40"/>
          <p:cNvSpPr/>
          <p:nvPr/>
        </p:nvSpPr>
        <p:spPr>
          <a:xfrm>
            <a:off x="6501384" y="1014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pic>
        <p:nvPicPr>
          <p:cNvPr id="49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5664" y="1298448"/>
            <a:ext cx="402336" cy="402336"/>
          </a:xfrm>
          <a:prstGeom prst="rect">
            <a:avLst/>
          </a:prstGeom>
        </p:spPr>
      </p:pic>
      <p:sp>
        <p:nvSpPr>
          <p:cNvPr id="50" name="Text 41"/>
          <p:cNvSpPr/>
          <p:nvPr/>
        </p:nvSpPr>
        <p:spPr>
          <a:xfrm>
            <a:off x="6217920" y="1755648"/>
            <a:ext cx="87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</a:t>
            </a:r>
            <a:endParaRPr lang="en-US" sz="900" dirty="0"/>
          </a:p>
        </p:txBody>
      </p:sp>
      <p:sp>
        <p:nvSpPr>
          <p:cNvPr id="51" name="Shape 42"/>
          <p:cNvSpPr/>
          <p:nvPr/>
        </p:nvSpPr>
        <p:spPr>
          <a:xfrm>
            <a:off x="7123176" y="1805940"/>
            <a:ext cx="54864" cy="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</a:ln>
        </p:spPr>
      </p:sp>
      <p:sp>
        <p:nvSpPr>
          <p:cNvPr id="52" name="Text 43"/>
          <p:cNvSpPr/>
          <p:nvPr/>
        </p:nvSpPr>
        <p:spPr>
          <a:xfrm>
            <a:off x="7022592" y="16687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800" dirty="0"/>
          </a:p>
        </p:txBody>
      </p:sp>
      <p:sp>
        <p:nvSpPr>
          <p:cNvPr id="53" name="Shape 44"/>
          <p:cNvSpPr/>
          <p:nvPr/>
        </p:nvSpPr>
        <p:spPr>
          <a:xfrm>
            <a:off x="7187184" y="1188720"/>
            <a:ext cx="914400" cy="1234440"/>
          </a:xfrm>
          <a:prstGeom prst="roundRect">
            <a:avLst>
              <a:gd name="adj" fmla="val 8000"/>
            </a:avLst>
          </a:prstGeom>
          <a:solidFill>
            <a:srgbClr val="1C2128"/>
          </a:solidFill>
          <a:ln w="12700">
            <a:solidFill>
              <a:srgbClr val="58A6FF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4" name="Shape 45"/>
          <p:cNvSpPr/>
          <p:nvPr/>
        </p:nvSpPr>
        <p:spPr>
          <a:xfrm>
            <a:off x="7488936" y="1024128"/>
            <a:ext cx="310896" cy="310896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55" name="Text 46"/>
          <p:cNvSpPr/>
          <p:nvPr/>
        </p:nvSpPr>
        <p:spPr>
          <a:xfrm>
            <a:off x="7488936" y="1014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pic>
        <p:nvPicPr>
          <p:cNvPr id="56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43216" y="1298448"/>
            <a:ext cx="402336" cy="402336"/>
          </a:xfrm>
          <a:prstGeom prst="rect">
            <a:avLst/>
          </a:prstGeom>
        </p:spPr>
      </p:pic>
      <p:sp>
        <p:nvSpPr>
          <p:cNvPr id="57" name="Text 47"/>
          <p:cNvSpPr/>
          <p:nvPr/>
        </p:nvSpPr>
        <p:spPr>
          <a:xfrm>
            <a:off x="7205472" y="1755648"/>
            <a:ext cx="87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&amp;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900" dirty="0"/>
          </a:p>
        </p:txBody>
      </p:sp>
      <p:sp>
        <p:nvSpPr>
          <p:cNvPr id="58" name="Shape 48"/>
          <p:cNvSpPr/>
          <p:nvPr/>
        </p:nvSpPr>
        <p:spPr>
          <a:xfrm>
            <a:off x="274320" y="2651760"/>
            <a:ext cx="8595360" cy="502920"/>
          </a:xfrm>
          <a:prstGeom prst="roundRect">
            <a:avLst>
              <a:gd name="adj" fmla="val 14545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59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1480" y="2743200"/>
            <a:ext cx="274320" cy="274320"/>
          </a:xfrm>
          <a:prstGeom prst="rect">
            <a:avLst/>
          </a:prstGeom>
        </p:spPr>
      </p:pic>
      <p:sp>
        <p:nvSpPr>
          <p:cNvPr id="60" name="Text 49"/>
          <p:cNvSpPr/>
          <p:nvPr/>
        </p:nvSpPr>
        <p:spPr>
          <a:xfrm>
            <a:off x="749808" y="271576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stages orchestrated by Ansible Automation Platform — single workflow job template with survey-driven inputs</a:t>
            </a:r>
            <a:endParaRPr lang="en-US" sz="1100" dirty="0"/>
          </a:p>
        </p:txBody>
      </p:sp>
      <p:sp>
        <p:nvSpPr>
          <p:cNvPr id="61" name="Text 50"/>
          <p:cNvSpPr/>
          <p:nvPr/>
        </p:nvSpPr>
        <p:spPr>
          <a:xfrm>
            <a:off x="36576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AAP Components:</a:t>
            </a:r>
            <a:endParaRPr lang="en-US" sz="1000" dirty="0"/>
          </a:p>
        </p:txBody>
      </p:sp>
      <p:sp>
        <p:nvSpPr>
          <p:cNvPr id="62" name="Shape 51"/>
          <p:cNvSpPr/>
          <p:nvPr/>
        </p:nvSpPr>
        <p:spPr>
          <a:xfrm>
            <a:off x="274320" y="3611880"/>
            <a:ext cx="1600200" cy="640080"/>
          </a:xfrm>
          <a:prstGeom prst="roundRect">
            <a:avLst>
              <a:gd name="adj" fmla="val 8571"/>
            </a:avLst>
          </a:prstGeom>
          <a:solidFill>
            <a:srgbClr val="161B22"/>
          </a:solidFill>
          <a:ln w="12700">
            <a:solidFill>
              <a:srgbClr val="EE0000"/>
            </a:solidFill>
            <a:prstDash val="solid"/>
          </a:ln>
        </p:spPr>
      </p:sp>
      <p:sp>
        <p:nvSpPr>
          <p:cNvPr id="63" name="Text 52"/>
          <p:cNvSpPr/>
          <p:nvPr/>
        </p:nvSpPr>
        <p:spPr>
          <a:xfrm>
            <a:off x="274320" y="361188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AAP Workflow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Template</a:t>
            </a:r>
            <a:endParaRPr lang="en-US" sz="900" dirty="0"/>
          </a:p>
        </p:txBody>
      </p:sp>
      <p:sp>
        <p:nvSpPr>
          <p:cNvPr id="64" name="Shape 53"/>
          <p:cNvSpPr/>
          <p:nvPr/>
        </p:nvSpPr>
        <p:spPr>
          <a:xfrm>
            <a:off x="2011680" y="3611880"/>
            <a:ext cx="1600200" cy="640080"/>
          </a:xfrm>
          <a:prstGeom prst="roundRect">
            <a:avLst>
              <a:gd name="adj" fmla="val 8571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65" name="Text 54"/>
          <p:cNvSpPr/>
          <p:nvPr/>
        </p:nvSpPr>
        <p:spPr>
          <a:xfrm>
            <a:off x="2011680" y="361188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Survey Inputs</a:t>
            </a:r>
            <a:endParaRPr lang="en-US" sz="900" dirty="0"/>
          </a:p>
        </p:txBody>
      </p:sp>
      <p:sp>
        <p:nvSpPr>
          <p:cNvPr id="66" name="Shape 55"/>
          <p:cNvSpPr/>
          <p:nvPr/>
        </p:nvSpPr>
        <p:spPr>
          <a:xfrm>
            <a:off x="3749040" y="3611880"/>
            <a:ext cx="1600200" cy="640080"/>
          </a:xfrm>
          <a:prstGeom prst="roundRect">
            <a:avLst>
              <a:gd name="adj" fmla="val 8571"/>
            </a:avLst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67" name="Text 56"/>
          <p:cNvSpPr/>
          <p:nvPr/>
        </p:nvSpPr>
        <p:spPr>
          <a:xfrm>
            <a:off x="3749040" y="361188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(EE)</a:t>
            </a:r>
            <a:endParaRPr lang="en-US" sz="900" dirty="0"/>
          </a:p>
        </p:txBody>
      </p:sp>
      <p:sp>
        <p:nvSpPr>
          <p:cNvPr id="68" name="Shape 57"/>
          <p:cNvSpPr/>
          <p:nvPr/>
        </p:nvSpPr>
        <p:spPr>
          <a:xfrm>
            <a:off x="5486400" y="3611880"/>
            <a:ext cx="1600200" cy="640080"/>
          </a:xfrm>
          <a:prstGeom prst="roundRect">
            <a:avLst>
              <a:gd name="adj" fmla="val 8571"/>
            </a:avLst>
          </a:prstGeom>
          <a:solidFill>
            <a:srgbClr val="161B22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69" name="Text 58"/>
          <p:cNvSpPr/>
          <p:nvPr/>
        </p:nvSpPr>
        <p:spPr>
          <a:xfrm>
            <a:off x="5486400" y="361188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Credentials</a:t>
            </a:r>
            <a:endParaRPr lang="en-US" sz="900" dirty="0"/>
          </a:p>
        </p:txBody>
      </p:sp>
      <p:sp>
        <p:nvSpPr>
          <p:cNvPr id="70" name="Shape 59"/>
          <p:cNvSpPr/>
          <p:nvPr/>
        </p:nvSpPr>
        <p:spPr>
          <a:xfrm>
            <a:off x="7223760" y="3611880"/>
            <a:ext cx="1600200" cy="640080"/>
          </a:xfrm>
          <a:prstGeom prst="roundRect">
            <a:avLst>
              <a:gd name="adj" fmla="val 8571"/>
            </a:avLst>
          </a:prstGeom>
          <a:solidFill>
            <a:srgbClr val="161B22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71" name="Text 60"/>
          <p:cNvSpPr/>
          <p:nvPr/>
        </p:nvSpPr>
        <p:spPr>
          <a:xfrm>
            <a:off x="7223760" y="361188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 &amp; 2 — PRE-PATCH SAFETY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Snapshot + Before Screenshot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977640" cy="3749040"/>
          </a:xfrm>
          <a:prstGeom prst="roundRect">
            <a:avLst>
              <a:gd name="adj" fmla="val 2439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430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1704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 — Azure Snapshot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1627632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Purpose: </a:t>
            </a: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rollback point before any changes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2057400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Authenticate to Azure via service principal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VM by hostname from inventory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managed disk snapshot with timestamp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snapshot: patching_job_id, date, hostname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snapshot status = Succeeded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snapshot ID for audit report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63440" y="1005840"/>
            <a:ext cx="4023360" cy="3749040"/>
          </a:xfrm>
          <a:prstGeom prst="roundRect">
            <a:avLst>
              <a:gd name="adj" fmla="val 2439"/>
            </a:avLst>
          </a:prstGeom>
          <a:solidFill>
            <a:srgbClr val="161B22"/>
          </a:solidFill>
          <a:ln w="12700">
            <a:solidFill>
              <a:srgbClr val="8B949E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14300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94960" y="11704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 — Before Screenshot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846320" y="1627632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Purpose: </a:t>
            </a: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HTTPS site state before patching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846320" y="2057400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to target server via AAP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headless browser (Selenium/curl) to hit HTTPS URL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full page screenshot as PNG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screenshot with timestamp to report dir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HTTP 200 response code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 to final email report as 'before' image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 &amp; 6 — TOMCAT SERVICE MANAGEMENT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before patching — Start after reboot — Correct user always enforced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78992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87552" y="102412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correct user matters: Running Tomcat as root creates security vulnerabilities and file permission issues. AAP enforces the correct service account every time — no exceptions.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65760" y="1828800"/>
            <a:ext cx="3977640" cy="2926080"/>
          </a:xfrm>
          <a:prstGeom prst="roundRect">
            <a:avLst>
              <a:gd name="adj" fmla="val 3125"/>
            </a:avLst>
          </a:prstGeom>
          <a:solidFill>
            <a:srgbClr val="161B22"/>
          </a:solidFill>
          <a:ln w="12700">
            <a:solidFill>
              <a:srgbClr val="F0883E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96596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1560" y="199339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8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 — Stop Tomcat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548640" y="2468880"/>
            <a:ext cx="36118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become_user: tomcat (not root)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systemctl stop tomcat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no tomcat PID remains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port 8080/8443 is released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stop time to audit trail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663440" y="1828800"/>
            <a:ext cx="4023360" cy="2926080"/>
          </a:xfrm>
          <a:prstGeom prst="roundRect">
            <a:avLst>
              <a:gd name="adj" fmla="val 3125"/>
            </a:avLst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196596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349240" y="199339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6 — Start Tomcat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4846320" y="246888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become_user: tomcat (not root)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systemctl start tomcat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 for port 8080/8443 to open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HTTP 200 on health endpoint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start time to audit trail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 &amp; 5 — PATCH &amp; REBOOT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dnf Update + Controlled Reboot with Health Checks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977640" cy="3749040"/>
          </a:xfrm>
          <a:prstGeom prst="roundRect">
            <a:avLst>
              <a:gd name="adj" fmla="val 2439"/>
            </a:avLst>
          </a:prstGeom>
          <a:solidFill>
            <a:srgbClr val="161B22"/>
          </a:solidFill>
          <a:ln w="12700">
            <a:solidFill>
              <a:srgbClr val="EE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430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1704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 — Patch Server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1691640"/>
            <a:ext cx="36118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dnf clean all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dnf update -y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list of updated packages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package versions before/after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update list in hostvars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 dnf errors gracefully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patch completion timestamp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663440" y="1005840"/>
            <a:ext cx="4023360" cy="3749040"/>
          </a:xfrm>
          <a:prstGeom prst="roundRect">
            <a:avLst>
              <a:gd name="adj" fmla="val 2439"/>
            </a:avLst>
          </a:prstGeom>
          <a:solidFill>
            <a:srgbClr val="161B22"/>
          </a:solidFill>
          <a:ln w="12700">
            <a:solidFill>
              <a:srgbClr val="CC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14300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11704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5 — Reboot Server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846320" y="1691640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ansible.builtin.reboot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reboot_timeout: 600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 for SSH to come back up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OS is back online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kernel version updated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systemd target reached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reboot duration to report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7 &amp; 8 — VERIFY &amp; REPORT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Screenshot + DB Tracking + Email Report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560320" cy="3749040"/>
          </a:xfrm>
          <a:prstGeom prst="roundRect">
            <a:avLst>
              <a:gd name="adj" fmla="val 3571"/>
            </a:avLst>
          </a:prstGeom>
          <a:solidFill>
            <a:srgbClr val="161B22"/>
          </a:solidFill>
          <a:ln w="12700">
            <a:solidFill>
              <a:srgbClr val="8B949E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430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11556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7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Screenshot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02920" y="1719072"/>
            <a:ext cx="22402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Tomcat fully started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 HTTPS URL again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after PNG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HTTP status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 if site down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 to email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108960" y="1005840"/>
            <a:ext cx="2651760" cy="3749040"/>
          </a:xfrm>
          <a:prstGeom prst="roundRect">
            <a:avLst>
              <a:gd name="adj" fmla="val 3448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114300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794760" y="111556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8a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 DB Tracking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246120" y="1719072"/>
            <a:ext cx="23317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per package updated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Store: hostname, package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Store: old/new version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Store: patch timestamp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Store: job ID, snapshot ID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patch complete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5943600" y="1005840"/>
            <a:ext cx="2743200" cy="3749040"/>
          </a:xfrm>
          <a:prstGeom prst="roundRect">
            <a:avLst>
              <a:gd name="adj" fmla="val 3333"/>
            </a:avLst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114300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629400" y="111556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8b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Report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6080760" y="1719072"/>
            <a:ext cx="24231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report attached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Before/after screenshots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Packages updated list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 ID + link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 duration timing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Success/fail per host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AAP WORKFLOW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AAP Orchestrates the Pipeline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194560" cy="3749040"/>
          </a:xfrm>
          <a:prstGeom prst="roundRect">
            <a:avLst>
              <a:gd name="adj" fmla="val 4167"/>
            </a:avLst>
          </a:prstGeom>
          <a:solidFill>
            <a:srgbClr val="161B22"/>
          </a:solidFill>
          <a:ln w="12700">
            <a:solidFill>
              <a:srgbClr val="EE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515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kern="0" spc="100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691640"/>
            <a:ext cx="19202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target_hosts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tomcat_user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app_url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patch_window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azure_rg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db_host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recipient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snapshot: yes/no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514600" y="2560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880360" y="1005840"/>
            <a:ext cx="3200400" cy="621792"/>
          </a:xfrm>
          <a:prstGeom prst="roundRect">
            <a:avLst>
              <a:gd name="adj" fmla="val 10294"/>
            </a:avLst>
          </a:prstGeom>
          <a:solidFill>
            <a:srgbClr val="1C2128"/>
          </a:solidFill>
          <a:ln w="12700">
            <a:solidFill>
              <a:srgbClr val="58A6FF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926080" y="1042416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Pre-patch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Playbook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434840" y="1042416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 + screenshot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20440" y="1627632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03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880360" y="1755648"/>
            <a:ext cx="3200400" cy="621792"/>
          </a:xfrm>
          <a:prstGeom prst="roundRect">
            <a:avLst>
              <a:gd name="adj" fmla="val 10294"/>
            </a:avLst>
          </a:prstGeom>
          <a:solidFill>
            <a:srgbClr val="1C2128"/>
          </a:solidFill>
          <a:ln w="12700">
            <a:solidFill>
              <a:srgbClr val="F0883E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926080" y="1792224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8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08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Playbook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434840" y="1792224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tomcat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20440" y="237744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03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880360" y="2505456"/>
            <a:ext cx="3200400" cy="621792"/>
          </a:xfrm>
          <a:prstGeom prst="roundRect">
            <a:avLst>
              <a:gd name="adj" fmla="val 10294"/>
            </a:avLst>
          </a:prstGeom>
          <a:solidFill>
            <a:srgbClr val="1C2128"/>
          </a:solidFill>
          <a:ln w="12700">
            <a:solidFill>
              <a:srgbClr val="EE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26080" y="254203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Patching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Playbook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434840" y="254203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dnf update + reboot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20440" y="3127248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03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880360" y="3255264"/>
            <a:ext cx="3200400" cy="621792"/>
          </a:xfrm>
          <a:prstGeom prst="roundRect">
            <a:avLst>
              <a:gd name="adj" fmla="val 10294"/>
            </a:avLst>
          </a:prstGeom>
          <a:solidFill>
            <a:srgbClr val="1C2128"/>
          </a:solidFill>
          <a:ln w="12700">
            <a:solidFill>
              <a:srgbClr val="3FB950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926080" y="32918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Post-patch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Playbook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434840" y="32918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+ screenshot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520440" y="3877056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03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880360" y="4005072"/>
            <a:ext cx="3200400" cy="621792"/>
          </a:xfrm>
          <a:prstGeom prst="roundRect">
            <a:avLst>
              <a:gd name="adj" fmla="val 10294"/>
            </a:avLst>
          </a:prstGeom>
          <a:solidFill>
            <a:srgbClr val="1C2128"/>
          </a:solidFill>
          <a:ln w="12700">
            <a:solidFill>
              <a:srgbClr val="8B949E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926080" y="404164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Playbook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434840" y="404164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+ email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26480" y="2560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92240" y="1005840"/>
            <a:ext cx="2286000" cy="374904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92240" y="10515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583680" y="1554480"/>
            <a:ext cx="20574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Azure snapshot created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Before/after screenshots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Server fully patched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Tomcat running correctly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DB updated with packages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HTML email report sent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Full audit trail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Rollback available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solidFill>
            <a:srgbClr val="EE0000"/>
          </a:solidFill>
          <a:ln w="12700">
            <a:solidFill>
              <a:srgbClr val="EE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&amp; 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automated, auditable, repeatable patching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1143000"/>
          </a:xfrm>
          <a:prstGeom prst="roundRect">
            <a:avLst>
              <a:gd name="adj" fmla="val 6400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1430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1097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Manual Steps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8680" y="141732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8-stage pipeline runs fully automated from a single AAP workflow launch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09160" y="1005840"/>
            <a:ext cx="4114800" cy="1143000"/>
          </a:xfrm>
          <a:prstGeom prst="roundRect">
            <a:avLst>
              <a:gd name="adj" fmla="val 6400"/>
            </a:avLst>
          </a:prstGeom>
          <a:solidFill>
            <a:srgbClr val="161B22"/>
          </a:solidFill>
          <a:ln w="12700">
            <a:solidFill>
              <a:srgbClr val="EE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14300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03520" y="1097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Safe to Patch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303520" y="141732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snapshot taken before every patch — instant rollback if anything fails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274320" y="2331720"/>
            <a:ext cx="4114800" cy="1143000"/>
          </a:xfrm>
          <a:prstGeom prst="roundRect">
            <a:avLst>
              <a:gd name="adj" fmla="val 6400"/>
            </a:avLst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246888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68680" y="24231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Every Time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868680" y="274320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and after screenshots confirm the application is healthy post-patch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4709160" y="2331720"/>
            <a:ext cx="4114800" cy="1143000"/>
          </a:xfrm>
          <a:prstGeom prst="roundRect">
            <a:avLst>
              <a:gd name="adj" fmla="val 6400"/>
            </a:avLst>
          </a:prstGeom>
          <a:solidFill>
            <a:srgbClr val="161B22"/>
          </a:solidFill>
          <a:ln w="12700">
            <a:solidFill>
              <a:srgbClr val="F0883E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246888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303520" y="24231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8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Audit Trail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5303520" y="274320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package update tracked in DB with hostname, version, timestamp, job ID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57200" y="41148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Steps: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1828800" y="411480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Define inventory groups     2. Configure Azure credentials in AAP     3. Set DB connection string     4. Test on non-prod first     5. Schedule maintenance window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998</Words>
  <Application>Microsoft Office PowerPoint</Application>
  <PresentationFormat>On-screen Show (16:9)</PresentationFormat>
  <Paragraphs>225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AAP Automated Patching Workflow</dc:title>
  <dc:subject>PptxGenJS Presentation</dc:subject>
  <dc:creator>PptxGenJS</dc:creator>
  <cp:lastModifiedBy>Jorge Chavez</cp:lastModifiedBy>
  <cp:revision>1</cp:revision>
  <dcterms:created xsi:type="dcterms:W3CDTF">2026-06-29T13:41:45Z</dcterms:created>
  <dcterms:modified xsi:type="dcterms:W3CDTF">2026-06-29T13:43:38Z</dcterms:modified>
</cp:coreProperties>
</file>